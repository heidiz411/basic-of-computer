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3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1091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เปิดคาบด้วยคำถาม: ถ้าคืนนี้มีลูกค้า 40 คนมายืนรอพร้อมกันหน้าเรือยายนวล นักศึกษาจะจัดการอย่างไร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มินิเกมในคาบ: ให้คู่หนึ่งเขียนขั้นตอนทำก๋วยเตี๋ยว แล้วอีกคนทำตามแบบหุ่นยนต์ตามตัวอักษรเป๊ะ 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ย้ำเส้นตายการส่งงานภายในคาบ และแจ้งว่าข้อสอบปลายภาคมีส่วนเขียนรหัสเทียมด้วยลายมือ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B2A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10332720" y="4480560"/>
            <a:ext cx="3108960" cy="3108960"/>
          </a:xfrm>
          <a:prstGeom prst="ellipse">
            <a:avLst/>
          </a:prstGeom>
          <a:solidFill>
            <a:srgbClr val="2A1B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 txBox="1"/>
          <p:nvPr/>
        </p:nvSpPr>
        <p:spPr>
          <a:xfrm>
            <a:off x="822960" y="1234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บทที่ 3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โครงสร้างข้อมูล และอัลกอริทึม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0896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สำหรับผู้เริ่มต้น สู่การเขียนโปรแกรมภาษาไพธอน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490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A9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Algorithms: A Gateway to Python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4754880"/>
            <a:ext cx="6035040" cy="868680"/>
          </a:xfrm>
          <a:prstGeom prst="roundRect">
            <a:avLst>
              <a:gd name="adj" fmla="val 10526"/>
            </a:avLst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 txBox="1"/>
          <p:nvPr/>
        </p:nvSpPr>
        <p:spPr>
          <a:xfrm>
            <a:off x="1051560" y="484632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คณะเทคโนโลยีสารสนเทศ มหาวิทยาลัยราชภัฏร้อยเอ็ด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อาจารย์ ดร.เขมวิทย์ จิตตะยโศธร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จบคาบนี้แล้วทำอะไรได้บ้าง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วัตถุประสงค์การเรียนรู้ 6 ข้อ ไล่ตามระดับ Bloom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1234440"/>
          </a:xfrm>
          <a:prstGeom prst="roundRect">
            <a:avLst>
              <a:gd name="adj" fmla="val 888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04672" y="2020824"/>
            <a:ext cx="566928" cy="5669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 txBox="1"/>
          <p:nvPr/>
        </p:nvSpPr>
        <p:spPr>
          <a:xfrm>
            <a:off x="804672" y="20208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74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ระบุ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30428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โครงสร้างข้อมูล 5 ชนิดในไพธอน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86400" cy="1234440"/>
          </a:xfrm>
          <a:prstGeom prst="roundRect">
            <a:avLst>
              <a:gd name="adj" fmla="val 8889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6519672" y="2020824"/>
            <a:ext cx="566928" cy="5669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 txBox="1"/>
          <p:nvPr/>
        </p:nvSpPr>
        <p:spPr>
          <a:xfrm>
            <a:off x="6519672" y="20208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874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อธิบาย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30428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Linear Search ต่างจาก Binary Search อย่างไร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3172968"/>
            <a:ext cx="5486400" cy="1234440"/>
          </a:xfrm>
          <a:prstGeom prst="roundRect">
            <a:avLst>
              <a:gd name="adj" fmla="val 888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804672" y="3502152"/>
            <a:ext cx="566928" cy="566928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 txBox="1"/>
          <p:nvPr/>
        </p:nvSpPr>
        <p:spPr>
          <a:xfrm>
            <a:off x="804672" y="35021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3558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เขียน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78561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โปรแกรมด้วย list และ dict ให้รันผ่าน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263640" y="3172968"/>
            <a:ext cx="5486400" cy="1234440"/>
          </a:xfrm>
          <a:prstGeom prst="roundRect">
            <a:avLst>
              <a:gd name="adj" fmla="val 8889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6519672" y="3502152"/>
            <a:ext cx="566928" cy="566928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 txBox="1"/>
          <p:nvPr/>
        </p:nvSpPr>
        <p:spPr>
          <a:xfrm>
            <a:off x="6519672" y="35021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33558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วิเคราะห์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378561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ประสิทธิภาพด้วยสัญกรณ์ Big-O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654296"/>
            <a:ext cx="5486400" cy="1234440"/>
          </a:xfrm>
          <a:prstGeom prst="roundRect">
            <a:avLst>
              <a:gd name="adj" fmla="val 888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804672" y="4983480"/>
            <a:ext cx="566928" cy="566928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 txBox="1"/>
          <p:nvPr/>
        </p:nvSpPr>
        <p:spPr>
          <a:xfrm>
            <a:off x="804672" y="4983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483717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5D8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ประเมิน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5266944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โค้ดที่ AI เขียนให้ และจับจุดผิด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263640" y="4654296"/>
            <a:ext cx="5486400" cy="1234440"/>
          </a:xfrm>
          <a:prstGeom prst="roundRect">
            <a:avLst>
              <a:gd name="adj" fmla="val 8889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0" name="Shape 28"/>
          <p:cNvSpPr/>
          <p:nvPr/>
        </p:nvSpPr>
        <p:spPr>
          <a:xfrm>
            <a:off x="6519672" y="4983480"/>
            <a:ext cx="566928" cy="566928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 txBox="1"/>
          <p:nvPr/>
        </p:nvSpPr>
        <p:spPr>
          <a:xfrm>
            <a:off x="6519672" y="4983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483717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5D8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สร้าง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7223760" y="5266944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ระบบจัดคิวคำสั่งซื้อของยายนวล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สมการที่ใช้ได้มา 50 ปี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Niklaus Wirth (1976) · Algorithms + Data Structures = Programs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2926080" cy="2286000"/>
          </a:xfrm>
          <a:prstGeom prst="roundRect">
            <a:avLst>
              <a:gd name="adj" fmla="val 48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 txBox="1"/>
          <p:nvPr/>
        </p:nvSpPr>
        <p:spPr>
          <a:xfrm>
            <a:off x="960120" y="2240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อัลกอริทึม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8346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ลำดับขั้นตอนการแก้ปัญหา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= สูตรทำก๋วยเตี๋ยว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617720" y="1965960"/>
            <a:ext cx="2926080" cy="2286000"/>
          </a:xfrm>
          <a:prstGeom prst="roundRect">
            <a:avLst>
              <a:gd name="adj" fmla="val 48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 txBox="1"/>
          <p:nvPr/>
        </p:nvSpPr>
        <p:spPr>
          <a:xfrm>
            <a:off x="4846320" y="2240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โครงสร้างข้อมูล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28346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วิธีจัดเก็บข้อมูล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= ภาชนะที่เลือกใส่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503920" y="1965960"/>
            <a:ext cx="2926080" cy="2286000"/>
          </a:xfrm>
          <a:prstGeom prst="roundRect">
            <a:avLst>
              <a:gd name="adj" fmla="val 48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 txBox="1"/>
          <p:nvPr/>
        </p:nvSpPr>
        <p:spPr>
          <a:xfrm>
            <a:off x="8732520" y="2240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5D8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โปรแกรม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732520" y="28346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สิ่งที่ทำงานได้จริง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= ร้านที่เปิดขายได้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7432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+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7543800" y="27432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=</a:t>
            </a:r>
            <a:endParaRPr lang="en-US" sz="4000" dirty="0"/>
          </a:p>
        </p:txBody>
      </p:sp>
      <p:sp>
        <p:nvSpPr>
          <p:cNvPr id="15" name="Shape 13"/>
          <p:cNvSpPr/>
          <p:nvPr/>
        </p:nvSpPr>
        <p:spPr>
          <a:xfrm>
            <a:off x="731520" y="4617720"/>
            <a:ext cx="10698480" cy="1143000"/>
          </a:xfrm>
          <a:prstGeom prst="roundRect">
            <a:avLst>
              <a:gd name="adj" fmla="val 9600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 txBox="1"/>
          <p:nvPr/>
        </p:nvSpPr>
        <p:spPr>
          <a:xfrm>
            <a:off x="1005840" y="48463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ขาดอย่างใดอย่างหนึ่ง โปรแกรมจะช้า ผิดพลาด หรือแก้ต่อไม่ได้  ภาษาไพธอนเป็นแค่ภาษาที่ใช้สื่อสารอัลกอริทึมให้เครื่องเข้าใจ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คืนวันศุกร์ที่เรือของยายนวล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ตลาดน้ำไซเบอร์พังก์ 2099 · ต่อจากใบงาน Mind Map ในบทที่แล้ว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429000" cy="2011680"/>
          </a:xfrm>
          <a:prstGeom prst="roundRect">
            <a:avLst>
              <a:gd name="adj" fmla="val 5455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 txBox="1"/>
          <p:nvPr/>
        </p:nvSpPr>
        <p:spPr>
          <a:xfrm>
            <a:off x="960120" y="2011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40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971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ลูกค้ายืนรอพร้อมกัน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480560" y="1828800"/>
            <a:ext cx="3429000" cy="2011680"/>
          </a:xfrm>
          <a:prstGeom prst="roundRect">
            <a:avLst>
              <a:gd name="adj" fmla="val 5455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 txBox="1"/>
          <p:nvPr/>
        </p:nvSpPr>
        <p:spPr>
          <a:xfrm>
            <a:off x="4709160" y="2011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12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2971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เมนูที่ต้องจำราคา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0" y="1828800"/>
            <a:ext cx="3429000" cy="2011680"/>
          </a:xfrm>
          <a:prstGeom prst="roundRect">
            <a:avLst>
              <a:gd name="adj" fmla="val 5455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 txBox="1"/>
          <p:nvPr/>
        </p:nvSpPr>
        <p:spPr>
          <a:xfrm>
            <a:off x="8458200" y="2011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5D8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2971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กติกาเดียวที่ยายนวลใช้: ใครมาก่อนได้ก่อน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297680"/>
            <a:ext cx="10698480" cy="1600200"/>
          </a:xfrm>
          <a:prstGeom prst="roundRect">
            <a:avLst>
              <a:gd name="adj" fmla="val 6857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 txBox="1"/>
          <p:nvPr/>
        </p:nvSpPr>
        <p:spPr>
          <a:xfrm>
            <a:off x="105156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🍜 ปัญหานี้ไม่ใช่เรื่องการทำก๋วยเตี๋ยว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5029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แต่เป็นเรื่อง “จะเก็บข้อมูลไว้ที่ไหน” และ “จะทำงานตามลำดับใด” ซึ่งก็คือโครงสร้างข้อมูลกับอัลกอริทึมพอดี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อัลกอริทึมที่ใช้ได้จริงต้องมี 5 อย่าง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ตามนิยามของ Donald E. Knuth · ลองวัดสูตรก๋วยเตี๋ยวของยายนวลดู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103120" cy="2240280"/>
          </a:xfrm>
          <a:prstGeom prst="roundRect">
            <a:avLst>
              <a:gd name="adj" fmla="val 52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1298448" y="2011680"/>
            <a:ext cx="566928" cy="5669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 txBox="1"/>
          <p:nvPr/>
        </p:nvSpPr>
        <p:spPr>
          <a:xfrm>
            <a:off x="1298448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74320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จำกัด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15468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ต้องจบ ไม่วนไม่รู้จบ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16352" y="1783080"/>
            <a:ext cx="2103120" cy="2240280"/>
          </a:xfrm>
          <a:prstGeom prst="roundRect">
            <a:avLst>
              <a:gd name="adj" fmla="val 52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3566160" y="2011680"/>
            <a:ext cx="566928" cy="5669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 txBox="1"/>
          <p:nvPr/>
        </p:nvSpPr>
        <p:spPr>
          <a:xfrm>
            <a:off x="356616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74320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ชัดเจน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315468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ตีความได้แบบเดียว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84064" y="1783080"/>
            <a:ext cx="2103120" cy="2240280"/>
          </a:xfrm>
          <a:prstGeom prst="roundRect">
            <a:avLst>
              <a:gd name="adj" fmla="val 52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5833872" y="2011680"/>
            <a:ext cx="566928" cy="566928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 txBox="1"/>
          <p:nvPr/>
        </p:nvSpPr>
        <p:spPr>
          <a:xfrm>
            <a:off x="5833872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193792" y="274320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มีข้อมูลเข้า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5193792" y="315468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รู้ว่าลูกค้าสั่งอะไร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51776" y="1783080"/>
            <a:ext cx="2103120" cy="2240280"/>
          </a:xfrm>
          <a:prstGeom prst="roundRect">
            <a:avLst>
              <a:gd name="adj" fmla="val 52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8101584" y="2011680"/>
            <a:ext cx="566928" cy="566928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 txBox="1"/>
          <p:nvPr/>
        </p:nvSpPr>
        <p:spPr>
          <a:xfrm>
            <a:off x="8101584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461504" y="274320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มีข้อมูลออก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7461504" y="315468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ได้ก๋วยเตี๋ยวจริง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619488" y="1783080"/>
            <a:ext cx="2103120" cy="2240280"/>
          </a:xfrm>
          <a:prstGeom prst="roundRect">
            <a:avLst>
              <a:gd name="adj" fmla="val 52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10369296" y="2011680"/>
            <a:ext cx="566928" cy="566928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 txBox="1"/>
          <p:nvPr/>
        </p:nvSpPr>
        <p:spPr>
          <a:xfrm>
            <a:off x="10369296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729216" y="274320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5D8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ทำได้จริง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9729216" y="315468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ไม่ใช่ให้เดาใจลูกค้า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640" y="434340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 txBox="1"/>
          <p:nvPr/>
        </p:nvSpPr>
        <p:spPr>
          <a:xfrm>
            <a:off x="868680" y="455371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5D8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❌ “ใส่น้ำปลาพอประมาณ”  →  ผิดข้อชัดเจน เพราะแต่ละคนตีความไม่เหมือนกัน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" y="50749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✅ “ใส่น้ำปลา 1 ช้อนชา”  →  เครื่องจักรและมนุษย์ทำตามแล้วได้ผลเหมือนกันทุกครั้ง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เขียนด้วยมือก่อน แล้วค่อยแปลงเป็นโค้ด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ไพธอนถูกเลือกเป็นภาษาแรกเพราะหน้าตาใกล้รหัสเทียมที่สุด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3931920"/>
          </a:xfrm>
          <a:prstGeom prst="roundRect">
            <a:avLst>
              <a:gd name="adj" fmla="val 279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📝 รหัสเทียม (เขียนบนกระดาษ)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กำหนด total = 0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สำหรับ order แต่ละตัวใน order_list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ถ้า order อยู่ในเมนู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 = total + ราคาของ order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แสดงค่า total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440680" cy="3931920"/>
          </a:xfrm>
          <a:prstGeom prst="roundRect">
            <a:avLst>
              <a:gd name="adj" fmla="val 2791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 txBox="1"/>
          <p:nvPr/>
        </p:nvSpPr>
        <p:spPr>
          <a:xfrm>
            <a:off x="6492240" y="1874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🐍 ไพธอน (พิมพ์เองทุกบรรทัด)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37744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 in orders: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name in menu: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 = total + menu[name]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print(total)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ย่อหน้า 4 ช่องว่างคือไวยากรณ์ ไม่ใช่ความสวยงาม ผิดหนึ่งช่องโปรแกรมพัง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ภาชนะ 5 แบบในครัวของไพธอน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เลือกผิดโปรแกรมไม่พัง แต่ช้าลงหลายเท่าและแก้ต่อยาก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 txBox="1"/>
          <p:nvPr/>
        </p:nvSpPr>
        <p:spPr>
          <a:xfrm>
            <a:off x="822960" y="18105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8470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เรียงลำดับ แก้ไขได้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18470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ใช้กับ: คิวออเดอร์วันนี้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 txBox="1"/>
          <p:nvPr/>
        </p:nvSpPr>
        <p:spPr>
          <a:xfrm>
            <a:off x="822960" y="26791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9A9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tuple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27157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เรียงลำดับ แก้ไม่ได้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27157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ใช้กับ: พิกัดท่าเรือ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 txBox="1"/>
          <p:nvPr/>
        </p:nvSpPr>
        <p:spPr>
          <a:xfrm>
            <a:off x="822960" y="35478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35844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คู่คีย์–ค่า เปิดหาทันที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35844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ใช้กับ: เมนูกับราคา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 txBox="1"/>
          <p:nvPr/>
        </p:nvSpPr>
        <p:spPr>
          <a:xfrm>
            <a:off x="822960" y="44165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5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44531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สมาชิกไม่ซ้ำ ไม่มีลำดับ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44531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ใช้กับ: วัตถุดิบที่หมด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 txBox="1"/>
          <p:nvPr/>
        </p:nvSpPr>
        <p:spPr>
          <a:xfrm>
            <a:off x="822960" y="52852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3108960" y="53218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เพิ่ม–ลบหัวท้ายเร็ว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53218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ใช้กับ: คิวลูกค้าหน้าเรือ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ชามที่ซ้อนไว้ กับ แถวที่ต่อคิว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Stack = เข้าทีหลังออกก่อน (LIFO) · Queue = เข้าก่อนออกก่อน (FIFO)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069080"/>
          </a:xfrm>
          <a:prstGeom prst="roundRect">
            <a:avLst>
              <a:gd name="adj" fmla="val 269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5D8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STACK — ชามซ้อน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2377440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FF5D8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 txBox="1"/>
          <p:nvPr/>
        </p:nvSpPr>
        <p:spPr>
          <a:xfrm>
            <a:off x="1188720" y="24414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ชาม C (เข้าล่าสุด)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05840" y="3063240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2626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 txBox="1"/>
          <p:nvPr/>
        </p:nvSpPr>
        <p:spPr>
          <a:xfrm>
            <a:off x="1188720" y="31272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ชาม B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05840" y="3749040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2626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 txBox="1"/>
          <p:nvPr/>
        </p:nvSpPr>
        <p:spPr>
          <a:xfrm>
            <a:off x="1188720" y="38130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ชาม A (เข้าแรกสุด)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8463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หยิบออกได้เฉพาะใบบนสุด → ปุ่ม Undo ใช้หลักการนี้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5440680" cy="4069080"/>
          </a:xfrm>
          <a:prstGeom prst="roundRect">
            <a:avLst>
              <a:gd name="adj" fmla="val 2697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 txBox="1"/>
          <p:nvPr/>
        </p:nvSpPr>
        <p:spPr>
          <a:xfrm>
            <a:off x="649224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QUEUE — แถวหน้าเรือ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537960" y="2514600"/>
            <a:ext cx="1143000" cy="914400"/>
          </a:xfrm>
          <a:prstGeom prst="roundRect">
            <a:avLst>
              <a:gd name="adj" fmla="val 8000"/>
            </a:avLst>
          </a:prstGeom>
          <a:solidFill>
            <a:srgbClr val="3DDC9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 txBox="1"/>
          <p:nvPr/>
        </p:nvSpPr>
        <p:spPr>
          <a:xfrm>
            <a:off x="6537960" y="27889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ตะวัน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818120" y="2514600"/>
            <a:ext cx="1143000" cy="914400"/>
          </a:xfrm>
          <a:prstGeom prst="roundRect">
            <a:avLst>
              <a:gd name="adj" fmla="val 8000"/>
            </a:avLst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 txBox="1"/>
          <p:nvPr/>
        </p:nvSpPr>
        <p:spPr>
          <a:xfrm>
            <a:off x="7818120" y="27889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ยายนวล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098280" y="2514600"/>
            <a:ext cx="1143000" cy="914400"/>
          </a:xfrm>
          <a:prstGeom prst="roundRect">
            <a:avLst>
              <a:gd name="adj" fmla="val 8000"/>
            </a:avLst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 txBox="1"/>
          <p:nvPr/>
        </p:nvSpPr>
        <p:spPr>
          <a:xfrm>
            <a:off x="9098280" y="27889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ลูกค้า 3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378440" y="2514600"/>
            <a:ext cx="1143000" cy="914400"/>
          </a:xfrm>
          <a:prstGeom prst="roundRect">
            <a:avLst>
              <a:gd name="adj" fmla="val 8000"/>
            </a:avLst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 txBox="1"/>
          <p:nvPr/>
        </p:nvSpPr>
        <p:spPr>
          <a:xfrm>
            <a:off x="10378440" y="27889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ลูกค้า 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611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ออกทางนี้  ⟵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0" y="3611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⟵  ต่อแถวทางนี้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48463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line.popleft() ทำงาน O(1)  ส่วน list.pop(0) ต้องเลื่อนทุกคน O(n)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หาสมาชิก 1 ล้านคน: 1,000,000 ก้าว หรือ 20 ก้าว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เปลี่ยนแค่อัลกอริทึม ไม่ต้องเปลี่ยนเครื่องคอมพิวเตอร์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5D8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Linear Search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ไล่ดูทีละคนตั้งแต่ต้นแถว ใช้ได้กับข้อมูลทุกแบบ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5D8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1,000,000 ครั้ง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 txBox="1"/>
          <p:nvPr/>
        </p:nvSpPr>
        <p:spPr>
          <a:xfrm>
            <a:off x="649224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Binary Search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4231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ตัดทิ้งครึ่งหนึ่งทุกรอบ แต่ข้อมูลต้องเรียงมาก่อน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0175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20 ครั้ง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685800" y="4315968"/>
            <a:ext cx="10789920" cy="256032"/>
          </a:xfrm>
          <a:prstGeom prst="roundRect">
            <a:avLst>
              <a:gd name="adj" fmla="val 17857"/>
            </a:avLst>
          </a:prstGeom>
          <a:solidFill>
            <a:srgbClr val="3DDC9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685800" y="4636008"/>
            <a:ext cx="5394960" cy="256032"/>
          </a:xfrm>
          <a:prstGeom prst="roundRect">
            <a:avLst>
              <a:gd name="adj" fmla="val 17857"/>
            </a:avLst>
          </a:prstGeom>
          <a:solidFill>
            <a:srgbClr val="3DDC9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685800" y="4956048"/>
            <a:ext cx="2697480" cy="256032"/>
          </a:xfrm>
          <a:prstGeom prst="roundRect">
            <a:avLst>
              <a:gd name="adj" fmla="val 17857"/>
            </a:avLst>
          </a:prstGeom>
          <a:solidFill>
            <a:srgbClr val="3DDC9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685800" y="5276088"/>
            <a:ext cx="1353312" cy="256032"/>
          </a:xfrm>
          <a:prstGeom prst="roundRect">
            <a:avLst>
              <a:gd name="adj" fmla="val 17857"/>
            </a:avLst>
          </a:prstGeom>
          <a:solidFill>
            <a:srgbClr val="3DDC9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685800" y="5596128"/>
            <a:ext cx="676656" cy="256032"/>
          </a:xfrm>
          <a:prstGeom prst="roundRect">
            <a:avLst>
              <a:gd name="adj" fmla="val 17857"/>
            </a:avLst>
          </a:prstGeom>
          <a:solidFill>
            <a:srgbClr val="FFC85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 txBox="1"/>
          <p:nvPr/>
        </p:nvSpPr>
        <p:spPr>
          <a:xfrm>
            <a:off x="685800" y="6053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🎯 เกมในคาบ: อาจารย์คิดเลข 1–1,000 ใครทายเจอด้วยจำนวนครั้งน้อยที่สุด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เรียงเมนูขายดี: เขียนเองเพื่อเข้าใจ ใช้ของจริงเพื่อทำงาน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Bubble Sort สอนความคิด · sorted() ทำงานจริงด้วย Timsort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3108960"/>
          </a:xfrm>
          <a:prstGeom prst="roundRect">
            <a:avLst>
              <a:gd name="adj" fmla="val 352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5D8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❌ Bubble Sort กับข้อมูลแสนรายการ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range(n-1):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j in range(n-1-i):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data[j] &gt; data[j+1]: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สลับค่า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14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5D8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O(n²)  ≈ หนึ่งหมื่นล้านรอบ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440680" cy="3108960"/>
          </a:xfrm>
          <a:prstGeom prst="roundRect">
            <a:avLst>
              <a:gd name="adj" fmla="val 3529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 txBox="1"/>
          <p:nvPr/>
        </p:nvSpPr>
        <p:spPr>
          <a:xfrm>
            <a:off x="649224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✅ sorted() ของไพธอน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4231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 = sorted(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best_seller.items(),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key=lambda x: x[1],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reverse=True)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4114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O(n log n)  ≈ หนึ่งล้านเจ็ดแสนรอบ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109960" cy="960120"/>
          </a:xfrm>
          <a:prstGeom prst="roundRect">
            <a:avLst>
              <a:gd name="adj" fmla="val 1142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 txBox="1"/>
          <p:nvPr/>
        </p:nvSpPr>
        <p:spPr>
          <a:xfrm>
            <a:off x="868680" y="52578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แต่ต้องเขียน Bubble Sort เองอย่างน้อยหนึ่งครั้ง ไม่อย่างนั้นจะดูไม่ออกว่าโค้ดที่ AI เสนอมาช้าตรงไหน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Big-O: ภาษากลางของคำว่า “ช้า” และ “เร็ว”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จำนวนรอบโดยประมาณเมื่อข้อมูลมี 1,000 รายการ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8928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คงที่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18928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เปิดราคาจาก dict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587752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 txBox="1"/>
          <p:nvPr/>
        </p:nvSpPr>
        <p:spPr>
          <a:xfrm>
            <a:off x="822960" y="27249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O(log n)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743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ลอการิทึม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27249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≈ 10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Binary Search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38144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 txBox="1"/>
          <p:nvPr/>
        </p:nvSpPr>
        <p:spPr>
          <a:xfrm>
            <a:off x="822960" y="35753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35935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เชิงเส้น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577840" y="35753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1,000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35935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ลูปหนึ่งชั้น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4288536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 txBox="1"/>
          <p:nvPr/>
        </p:nvSpPr>
        <p:spPr>
          <a:xfrm>
            <a:off x="822960" y="44256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3017520" y="444398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เชิงเส้นคูณลอก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44256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≈ 10,000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4439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sorted()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48640" y="5138928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 txBox="1"/>
          <p:nvPr/>
        </p:nvSpPr>
        <p:spPr>
          <a:xfrm>
            <a:off x="822960" y="52760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5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endParaRPr lang="en-US" sz="2100" dirty="0"/>
          </a:p>
        </p:txBody>
      </p:sp>
      <p:sp>
        <p:nvSpPr>
          <p:cNvPr id="26" name="Text 24"/>
          <p:cNvSpPr txBox="1"/>
          <p:nvPr/>
        </p:nvSpPr>
        <p:spPr>
          <a:xfrm>
            <a:off x="3017520" y="529437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กำลังสอง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577840" y="52760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5D8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1,000,000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529437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ลูปซ้อนสองชั้น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กฎง่าย ๆ: ลูปซ้อนกันกี่ชั้น ยกกำลังนั้น · ตัดข้อมูลครึ่งหนึ่งทุกรอบคือ log n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ตารางที่ควรจำก่อนขึ้นบทถัดไป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คำสั่งหน้าตาคล้ายกัน แต่ราคาไม่เท่ากัน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 txBox="1"/>
          <p:nvPr/>
        </p:nvSpPr>
        <p:spPr>
          <a:xfrm>
            <a:off x="77724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data[i]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95681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list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O(1)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 txBox="1"/>
          <p:nvPr/>
        </p:nvSpPr>
        <p:spPr>
          <a:xfrm>
            <a:off x="649224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data.append(x)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098280" y="195681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list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0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O(1)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2761488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 txBox="1"/>
          <p:nvPr/>
        </p:nvSpPr>
        <p:spPr>
          <a:xfrm>
            <a:off x="777240" y="29626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data.insert(0, x)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298094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list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29443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5D8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O(n)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263640" y="2761488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 txBox="1"/>
          <p:nvPr/>
        </p:nvSpPr>
        <p:spPr>
          <a:xfrm>
            <a:off x="6492240" y="29626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in data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098280" y="298094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list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0" y="29443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5D8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O(n)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 txBox="1"/>
          <p:nvPr/>
        </p:nvSpPr>
        <p:spPr>
          <a:xfrm>
            <a:off x="777240" y="39867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in data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40050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dict / set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39684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O(1)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263640" y="3785616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 txBox="1"/>
          <p:nvPr/>
        </p:nvSpPr>
        <p:spPr>
          <a:xfrm>
            <a:off x="6492240" y="39867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data.popleft()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40050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deque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0" y="39684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O(1)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548640" y="4809744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 txBox="1"/>
          <p:nvPr/>
        </p:nvSpPr>
        <p:spPr>
          <a:xfrm>
            <a:off x="777240" y="50109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sorted(data)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3383280" y="5029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list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343400" y="499262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O(n log n)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6263640" y="5138928"/>
            <a:ext cx="5349240" cy="1005840"/>
          </a:xfrm>
          <a:prstGeom prst="roundRect">
            <a:avLst>
              <a:gd name="adj" fmla="val 1090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3" name="Text 31"/>
          <p:cNvSpPr txBox="1"/>
          <p:nvPr/>
        </p:nvSpPr>
        <p:spPr>
          <a:xfrm>
            <a:off x="6537960" y="532180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💡 เปลี่ยน list เป็น dict ตอนค้นหา คือการเพิ่มความเร็วที่ถูกที่สุด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ใช้ AI แบบไม่ให้สมองฝ่อ: 5 ขั้น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มือมาก่อน AI เสมอ · AI คือผู้ตรวจและผู้อธิบาย ไม่ใช่ผู้ผลิตคำตอบ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103120" cy="2377440"/>
          </a:xfrm>
          <a:prstGeom prst="roundRect">
            <a:avLst>
              <a:gd name="adj" fmla="val 52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1298448" y="2011680"/>
            <a:ext cx="566928" cy="566928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 txBox="1"/>
          <p:nvPr/>
        </p:nvSpPr>
        <p:spPr>
          <a:xfrm>
            <a:off x="1298448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74320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5D8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คิด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15468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เขียนรหัสเทียมด้วยลายมือ ปิดจอ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6974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16352" y="1783080"/>
            <a:ext cx="2103120" cy="2377440"/>
          </a:xfrm>
          <a:prstGeom prst="roundRect">
            <a:avLst>
              <a:gd name="adj" fmla="val 52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3566160" y="2011680"/>
            <a:ext cx="566928" cy="566928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 txBox="1"/>
          <p:nvPr/>
        </p:nvSpPr>
        <p:spPr>
          <a:xfrm>
            <a:off x="356616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274320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ถาม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315468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ให้อธิบาย ห้ามขอโค้ดเต็ม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28032" y="26974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84064" y="1783080"/>
            <a:ext cx="2103120" cy="2377440"/>
          </a:xfrm>
          <a:prstGeom prst="roundRect">
            <a:avLst>
              <a:gd name="adj" fmla="val 52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5833872" y="2011680"/>
            <a:ext cx="566928" cy="566928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 txBox="1"/>
          <p:nvPr/>
        </p:nvSpPr>
        <p:spPr>
          <a:xfrm>
            <a:off x="5833872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193792" y="274320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ตรวจ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5193792" y="315468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ไล่ทีละบรรทัดบน Python Tutor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095744" y="26974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51776" y="1783080"/>
            <a:ext cx="2103120" cy="2377440"/>
          </a:xfrm>
          <a:prstGeom prst="roundRect">
            <a:avLst>
              <a:gd name="adj" fmla="val 52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Shape 21"/>
          <p:cNvSpPr/>
          <p:nvPr/>
        </p:nvSpPr>
        <p:spPr>
          <a:xfrm>
            <a:off x="8101584" y="2011680"/>
            <a:ext cx="566928" cy="5669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 txBox="1"/>
          <p:nvPr/>
        </p:nvSpPr>
        <p:spPr>
          <a:xfrm>
            <a:off x="8101584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461504" y="274320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ทดสอบ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7461504" y="315468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ปกติ / ว่าง / กรณีขอบ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363456" y="26974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619488" y="1783080"/>
            <a:ext cx="2103120" cy="2377440"/>
          </a:xfrm>
          <a:prstGeom prst="roundRect">
            <a:avLst>
              <a:gd name="adj" fmla="val 52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Shape 27"/>
          <p:cNvSpPr/>
          <p:nvPr/>
        </p:nvSpPr>
        <p:spPr>
          <a:xfrm>
            <a:off x="10369296" y="2011680"/>
            <a:ext cx="566928" cy="5669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 txBox="1"/>
          <p:nvPr/>
        </p:nvSpPr>
        <p:spPr>
          <a:xfrm>
            <a:off x="10369296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729216" y="274320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บันทึก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9729216" y="315468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กรอก AI Log แนบท้ายงาน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48640" y="443484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4" name="Text 32"/>
          <p:cNvSpPr txBox="1"/>
          <p:nvPr/>
        </p:nvSpPr>
        <p:spPr>
          <a:xfrm>
            <a:off x="868680" y="45720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ตัวอย่างข้อความสั่งที่ใช้ได้จริง</a:t>
            </a:r>
            <a:endParaRPr lang="en-US" sz="1900" dirty="0"/>
          </a:p>
        </p:txBody>
      </p:sp>
      <p:sp>
        <p:nvSpPr>
          <p:cNvPr id="35" name="Text 33"/>
          <p:cNvSpPr txBox="1"/>
          <p:nvPr/>
        </p:nvSpPr>
        <p:spPr>
          <a:xfrm>
            <a:off x="868680" y="50292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“นี่คือรหัสเทียมที่ฉันเขียนเอง ชี้เฉพาะจุดที่ตรรกะผิด อธิบายเป็นคำถามกลับมาให้ฉันคิดต่อ ห้ามเขียนโค้ดไพธอนให้”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กติกา และภารกิจของคาบปฏิบัติการ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36576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 txBox="1"/>
          <p:nvPr/>
        </p:nvSpPr>
        <p:spPr>
          <a:xfrm>
            <a:off x="822960" y="15361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5D8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⚖️ กติกาการใช้ AI ในรายวิชานี้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ใช้ได้: อธิบายแนวคิด จับบั๊ก ออกแบบกรณีทดสอบ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ใช้ไม่ได้: ส่งโค้ดที่ตัวเองอธิบายไม่ได้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ทุกชิ้นงานต้องแนบ AI Log และลายมือชื่อรับรอง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ตรวจชื่อไลบรารีทุกครั้ง AI แต่งชื่อแพ็กเกจที่ไม่มีจริงได้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อาจารย์สุ่มเรียกอธิบายโค้ดปากเปล่า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440680" cy="3657600"/>
          </a:xfrm>
          <a:prstGeom prst="roundRect">
            <a:avLst>
              <a:gd name="adj" fmla="val 3000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 txBox="1"/>
          <p:nvPr/>
        </p:nvSpPr>
        <p:spPr>
          <a:xfrm>
            <a:off x="6492240" y="15361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🎯 ใบงานที่ 3: NoodleOps 2099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05740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เลือก 1 ภารกิจ: คิดเงิน / คิวหน้าเรือ / กระดานขายดี / บัตรสมาชิก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25 นาทีแรกเขียนรหัสเทียมด้วยลายมือ ห้ามเปิด AI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Prompt Lab 3 รอบ ต้องปฏิเสธข้อเสนอ AI อย่างน้อย 1 ครั้ง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ปิดท้ายด้วย Micro-Pitch 90 วินาที แล้วโหวตโค้ดที่อธิบายได้ดีที่สุด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5257800"/>
            <a:ext cx="11109960" cy="914400"/>
          </a:xfrm>
          <a:prstGeom prst="roundRect">
            <a:avLst>
              <a:gd name="adj" fmla="val 12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 txBox="1"/>
          <p:nvPr/>
        </p:nvSpPr>
        <p:spPr>
          <a:xfrm>
            <a:off x="868680" y="5440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บทหน้า: อ่านเขียนไฟล์ข้อมูล และจัดการข้อผิดพลาดด้วย try / except — ต่อยอดจากฟังก์ชันจัดคิวที่เขียนวันนี้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1409</Words>
  <Application>Microsoft Macintosh PowerPoint</Application>
  <PresentationFormat>Custom</PresentationFormat>
  <Paragraphs>240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Courier New</vt:lpstr>
      <vt:lpstr>TH Sarabun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เขมวิทย์ จิตตะยโศธร</cp:lastModifiedBy>
  <cp:revision>1</cp:revision>
  <dcterms:created xsi:type="dcterms:W3CDTF">2026-09-19T05:38:46Z</dcterms:created>
  <dcterms:modified xsi:type="dcterms:W3CDTF">2026-09-19T05:54:48Z</dcterms:modified>
</cp:coreProperties>
</file>